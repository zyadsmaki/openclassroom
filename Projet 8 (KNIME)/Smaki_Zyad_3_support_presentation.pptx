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2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7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935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417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122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377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3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271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2989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321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107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889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9226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50BDD-ED28-4748-B944-A5B0C81696D6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D9B9C73-6609-49AB-AB95-C6FA7F8042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45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190901-3CDE-6743-7B7D-205E11D05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096" y="1208313"/>
            <a:ext cx="10449817" cy="1625025"/>
          </a:xfrm>
        </p:spPr>
        <p:txBody>
          <a:bodyPr anchor="ctr">
            <a:noAutofit/>
          </a:bodyPr>
          <a:lstStyle/>
          <a:p>
            <a:r>
              <a:rPr lang="fr-FR" sz="3200" u="sng" dirty="0">
                <a:latin typeface="Miriam" panose="020B0502050101010101" pitchFamily="34" charset="-79"/>
                <a:cs typeface="Miriam" panose="020B0502050101010101" pitchFamily="34" charset="-79"/>
              </a:rPr>
              <a:t>Mission: </a:t>
            </a:r>
            <a:br>
              <a:rPr lang="fr-FR" sz="3200" dirty="0">
                <a:latin typeface="Miriam" panose="020B0502050101010101" pitchFamily="34" charset="-79"/>
                <a:cs typeface="Miriam" panose="020B0502050101010101" pitchFamily="34" charset="-79"/>
              </a:rPr>
            </a:br>
            <a:r>
              <a:rPr lang="fr-FR" sz="3200" dirty="0">
                <a:latin typeface="Miriam" panose="020B0502050101010101" pitchFamily="34" charset="-79"/>
                <a:cs typeface="Miriam" panose="020B0502050101010101" pitchFamily="34" charset="-79"/>
              </a:rPr>
              <a:t>- automatiser la création d’un rapport sur l’égalité professionnelle femmes hommes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A6ED408-78B7-561E-3187-806C1A0A3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195" y="-398502"/>
            <a:ext cx="11440417" cy="1365805"/>
          </a:xfrm>
        </p:spPr>
        <p:txBody>
          <a:bodyPr anchor="ctr">
            <a:normAutofit/>
          </a:bodyPr>
          <a:lstStyle/>
          <a:p>
            <a:r>
              <a:rPr lang="fr-FR" sz="2800" u="sng" dirty="0">
                <a:latin typeface="Miriam" panose="020B0502050101010101" pitchFamily="34" charset="-79"/>
                <a:cs typeface="Miriam" panose="020B0502050101010101" pitchFamily="34" charset="-79"/>
              </a:rPr>
              <a:t>Analysez des indicateurs de l'égalité femmes/hommes en respect du RGPD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9A9820E-38F0-412C-4825-93744CB7CC7B}"/>
              </a:ext>
            </a:extLst>
          </p:cNvPr>
          <p:cNvSpPr txBox="1"/>
          <p:nvPr/>
        </p:nvSpPr>
        <p:spPr>
          <a:xfrm>
            <a:off x="10025276" y="6273225"/>
            <a:ext cx="1992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Miriam" panose="020B0502050101010101" pitchFamily="34" charset="-79"/>
                <a:cs typeface="Miriam" panose="020B0502050101010101" pitchFamily="34" charset="-79"/>
              </a:rPr>
              <a:t>PROJET 8</a:t>
            </a:r>
          </a:p>
        </p:txBody>
      </p:sp>
      <p:pic>
        <p:nvPicPr>
          <p:cNvPr id="1026" name="Picture 2" descr="Knime : Le moteur de l'analyse de données pour les marketeurs - Marketing  Mix">
            <a:extLst>
              <a:ext uri="{FF2B5EF4-FFF2-40B4-BE49-F238E27FC236}">
                <a16:creationId xmlns:a16="http://schemas.microsoft.com/office/drawing/2014/main" id="{9C674B69-45F7-3705-954B-7CDF348E2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604" y="3130435"/>
            <a:ext cx="4114800" cy="235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rganigramme : Procédé 5">
            <a:extLst>
              <a:ext uri="{FF2B5EF4-FFF2-40B4-BE49-F238E27FC236}">
                <a16:creationId xmlns:a16="http://schemas.microsoft.com/office/drawing/2014/main" id="{C2B64AEE-4EA6-DF06-7940-199A5E000F7F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8722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2409E5-8A23-CEC5-ED40-23204D48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0"/>
            <a:ext cx="9603275" cy="1049235"/>
          </a:xfrm>
        </p:spPr>
        <p:txBody>
          <a:bodyPr/>
          <a:lstStyle/>
          <a:p>
            <a:r>
              <a:rPr lang="fr-FR" u="sng" dirty="0">
                <a:latin typeface="Miriam" panose="020F0502020204030204" pitchFamily="34" charset="-79"/>
                <a:cs typeface="Miriam" panose="020F0502020204030204" pitchFamily="34" charset="-79"/>
              </a:rPr>
              <a:t>Présentation des données</a:t>
            </a:r>
          </a:p>
        </p:txBody>
      </p:sp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F611F319-4B00-AA97-58EF-9BEC4D80409E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F984546-721F-D0F7-9915-C38A0698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541" y="1988667"/>
            <a:ext cx="9775671" cy="275596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60E117C-CEBA-364C-04A6-939204186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9" y="2455212"/>
            <a:ext cx="1941431" cy="150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73A05-7982-98B8-27F6-6066F57F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A1ED43-DFA1-15F1-1FE9-E55DAFB82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0"/>
            <a:ext cx="9603275" cy="1049235"/>
          </a:xfrm>
        </p:spPr>
        <p:txBody>
          <a:bodyPr/>
          <a:lstStyle/>
          <a:p>
            <a:r>
              <a:rPr lang="fr-FR" u="sng" dirty="0">
                <a:latin typeface="Miriam" panose="020F0502020204030204" pitchFamily="34" charset="-79"/>
                <a:cs typeface="Miriam" panose="020F0502020204030204" pitchFamily="34" charset="-79"/>
              </a:rPr>
              <a:t>Nettoyage des données</a:t>
            </a:r>
          </a:p>
        </p:txBody>
      </p:sp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7B172DF7-F8B1-B2D1-DD50-C147B61A40AA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411AF56-0D3B-D523-078E-5874A8F6E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88" y="1158338"/>
            <a:ext cx="1596422" cy="154574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1CA2A5F-01B8-18D7-15A9-B0EC6B967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597" y="1295576"/>
            <a:ext cx="2911221" cy="167578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F78B63D-55C3-88A4-1047-B5FB82A4A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890" y="987992"/>
            <a:ext cx="5580323" cy="214182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1A9B5BC-D5D3-5F29-54BE-E97E4F386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26" y="3150438"/>
            <a:ext cx="10623127" cy="2549224"/>
          </a:xfrm>
          <a:prstGeom prst="rect">
            <a:avLst/>
          </a:prstGeom>
        </p:spPr>
      </p:pic>
      <p:sp>
        <p:nvSpPr>
          <p:cNvPr id="3" name="Parenthèse ouvrante 2">
            <a:extLst>
              <a:ext uri="{FF2B5EF4-FFF2-40B4-BE49-F238E27FC236}">
                <a16:creationId xmlns:a16="http://schemas.microsoft.com/office/drawing/2014/main" id="{BEB51FAE-B2D0-C932-BB6A-013C9084BCD6}"/>
              </a:ext>
            </a:extLst>
          </p:cNvPr>
          <p:cNvSpPr/>
          <p:nvPr/>
        </p:nvSpPr>
        <p:spPr>
          <a:xfrm rot="16200000">
            <a:off x="2739423" y="4698676"/>
            <a:ext cx="97972" cy="1629524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Parenthèse ouvrante 4">
            <a:extLst>
              <a:ext uri="{FF2B5EF4-FFF2-40B4-BE49-F238E27FC236}">
                <a16:creationId xmlns:a16="http://schemas.microsoft.com/office/drawing/2014/main" id="{18547F44-1537-7E45-CAA8-7ACC2F4EF656}"/>
              </a:ext>
            </a:extLst>
          </p:cNvPr>
          <p:cNvSpPr/>
          <p:nvPr/>
        </p:nvSpPr>
        <p:spPr>
          <a:xfrm rot="16200000">
            <a:off x="5525680" y="4699539"/>
            <a:ext cx="164144" cy="1226753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Parenthèse ouvrante 6">
            <a:extLst>
              <a:ext uri="{FF2B5EF4-FFF2-40B4-BE49-F238E27FC236}">
                <a16:creationId xmlns:a16="http://schemas.microsoft.com/office/drawing/2014/main" id="{A0275EE8-D491-A89A-38A0-3533724ED4F7}"/>
              </a:ext>
            </a:extLst>
          </p:cNvPr>
          <p:cNvSpPr/>
          <p:nvPr/>
        </p:nvSpPr>
        <p:spPr>
          <a:xfrm rot="16200000">
            <a:off x="8963243" y="4887531"/>
            <a:ext cx="114475" cy="1313839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Parenthèse ouvrante 8">
            <a:extLst>
              <a:ext uri="{FF2B5EF4-FFF2-40B4-BE49-F238E27FC236}">
                <a16:creationId xmlns:a16="http://schemas.microsoft.com/office/drawing/2014/main" id="{B52D34CF-1C0A-ABAC-E2E0-E15C0169773C}"/>
              </a:ext>
            </a:extLst>
          </p:cNvPr>
          <p:cNvSpPr/>
          <p:nvPr/>
        </p:nvSpPr>
        <p:spPr>
          <a:xfrm rot="16200000">
            <a:off x="7638730" y="4683693"/>
            <a:ext cx="118272" cy="976382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16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86E28-F149-EA07-5018-D7A95CEC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44C116-455E-6CE4-CB98-D7886F510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0"/>
            <a:ext cx="9603275" cy="1049235"/>
          </a:xfrm>
        </p:spPr>
        <p:txBody>
          <a:bodyPr/>
          <a:lstStyle/>
          <a:p>
            <a:r>
              <a:rPr lang="fr-FR" u="sng" dirty="0">
                <a:latin typeface="Miriam" panose="020F0502020204030204" pitchFamily="34" charset="-79"/>
                <a:cs typeface="Miriam" panose="020F0502020204030204" pitchFamily="34" charset="-79"/>
              </a:rPr>
              <a:t>Anonymisation des données</a:t>
            </a:r>
          </a:p>
        </p:txBody>
      </p:sp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4B024B02-7F1A-75E2-4A6D-720144FF0730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65D46E-1204-42DF-6CFD-A341AA125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76" y="1135892"/>
            <a:ext cx="1610573" cy="225812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BB1744B-09EE-1683-8039-46CAC7650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559" y="972867"/>
            <a:ext cx="4348414" cy="296995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6353B73-389A-8253-A8FD-78F421552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194" y="972867"/>
            <a:ext cx="3282113" cy="375098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35A1412-7B0D-AC3C-E8AB-C732E800F8E2}"/>
              </a:ext>
            </a:extLst>
          </p:cNvPr>
          <p:cNvSpPr txBox="1"/>
          <p:nvPr/>
        </p:nvSpPr>
        <p:spPr>
          <a:xfrm>
            <a:off x="400876" y="5352776"/>
            <a:ext cx="668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 </a:t>
            </a:r>
            <a:r>
              <a:rPr lang="fr-FR" dirty="0">
                <a:latin typeface="Miriam" panose="020B0502050101010101" pitchFamily="34" charset="-79"/>
                <a:cs typeface="Miriam" panose="020B0502050101010101" pitchFamily="34" charset="-79"/>
              </a:rPr>
              <a:t>SUPPRESSION DES DONNEES PERSO (nom, numéro, adresse)</a:t>
            </a:r>
          </a:p>
        </p:txBody>
      </p:sp>
    </p:spTree>
    <p:extLst>
      <p:ext uri="{BB962C8B-B14F-4D97-AF65-F5344CB8AC3E}">
        <p14:creationId xmlns:p14="http://schemas.microsoft.com/office/powerpoint/2010/main" val="423225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3D0F6-DDA1-D78B-78C6-F0060FD66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CDBFE0-A966-7CD5-F23B-53F6E07C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0"/>
            <a:ext cx="9603275" cy="1049235"/>
          </a:xfrm>
        </p:spPr>
        <p:txBody>
          <a:bodyPr/>
          <a:lstStyle/>
          <a:p>
            <a:r>
              <a:rPr lang="fr-FR" u="sng" dirty="0">
                <a:latin typeface="Miriam" panose="020F0502020204030204" pitchFamily="34" charset="-79"/>
                <a:cs typeface="Miriam" panose="020F0502020204030204" pitchFamily="34" charset="-79"/>
              </a:rPr>
              <a:t>Analyse de l’égalité homme/femme : Salaire</a:t>
            </a:r>
          </a:p>
        </p:txBody>
      </p:sp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6446F6C1-682E-39EF-9A6B-EBC33DCBD93E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62685E6-7CF1-CB0E-4B9F-F5BAE17EF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6" y="1674599"/>
            <a:ext cx="6125095" cy="401974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29DEF63-9095-DFB8-C32F-1134ABE90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741" y="1821372"/>
            <a:ext cx="2214620" cy="99779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4ACD87F-B701-FDA5-4DF5-F74D95D30CD3}"/>
              </a:ext>
            </a:extLst>
          </p:cNvPr>
          <p:cNvSpPr txBox="1"/>
          <p:nvPr/>
        </p:nvSpPr>
        <p:spPr>
          <a:xfrm>
            <a:off x="9255261" y="1384560"/>
            <a:ext cx="207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Shapiro femme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1BC9F1C-C9BF-B15E-BC44-42A2647160B4}"/>
              </a:ext>
            </a:extLst>
          </p:cNvPr>
          <p:cNvSpPr txBox="1"/>
          <p:nvPr/>
        </p:nvSpPr>
        <p:spPr>
          <a:xfrm>
            <a:off x="6482463" y="1384560"/>
            <a:ext cx="2117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Shapiro homme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3544B2B-A616-AB4C-0F8C-58588E5C8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173" y="3461772"/>
            <a:ext cx="2076199" cy="1226846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3AAD7C8B-F0A8-9F7E-7AAE-3E5045354BFB}"/>
              </a:ext>
            </a:extLst>
          </p:cNvPr>
          <p:cNvSpPr txBox="1"/>
          <p:nvPr/>
        </p:nvSpPr>
        <p:spPr>
          <a:xfrm>
            <a:off x="7811968" y="3092440"/>
            <a:ext cx="1824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Mann-Whitney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749CAE4-3CC5-E89E-FE7A-6965DF856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47" y="1834902"/>
            <a:ext cx="2214620" cy="99779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712BB0A-46EF-0A27-ED72-E699E1E1C593}"/>
              </a:ext>
            </a:extLst>
          </p:cNvPr>
          <p:cNvSpPr txBox="1"/>
          <p:nvPr/>
        </p:nvSpPr>
        <p:spPr>
          <a:xfrm>
            <a:off x="6833196" y="5370538"/>
            <a:ext cx="4310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Pas de différence significative</a:t>
            </a: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D1C48694-AB6C-DA60-0850-A28672B5032D}"/>
              </a:ext>
            </a:extLst>
          </p:cNvPr>
          <p:cNvSpPr/>
          <p:nvPr/>
        </p:nvSpPr>
        <p:spPr>
          <a:xfrm>
            <a:off x="8423027" y="4817489"/>
            <a:ext cx="511628" cy="511628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1A4B955-1FF0-F3D2-72A4-AB1B6916C890}"/>
              </a:ext>
            </a:extLst>
          </p:cNvPr>
          <p:cNvSpPr txBox="1"/>
          <p:nvPr/>
        </p:nvSpPr>
        <p:spPr>
          <a:xfrm>
            <a:off x="5175530" y="4509712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Q1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68E1710-803C-4778-1589-451A15052F9B}"/>
              </a:ext>
            </a:extLst>
          </p:cNvPr>
          <p:cNvSpPr txBox="1"/>
          <p:nvPr/>
        </p:nvSpPr>
        <p:spPr>
          <a:xfrm>
            <a:off x="5175530" y="3830640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Q2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D0EBF0E-3C73-9938-0E2D-9CCB77843A5B}"/>
              </a:ext>
            </a:extLst>
          </p:cNvPr>
          <p:cNvSpPr txBox="1"/>
          <p:nvPr/>
        </p:nvSpPr>
        <p:spPr>
          <a:xfrm>
            <a:off x="5175530" y="3096326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284331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7" grpId="0"/>
      <p:bldP spid="6" grpId="0"/>
      <p:bldP spid="5" grpId="0" animBg="1"/>
      <p:bldP spid="8" grpId="0"/>
      <p:bldP spid="9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72BB-F02E-C52F-D59F-9C22D81F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F45F0D-5CB0-0E4C-E91A-9A1CC155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0"/>
            <a:ext cx="9603275" cy="1049235"/>
          </a:xfrm>
        </p:spPr>
        <p:txBody>
          <a:bodyPr/>
          <a:lstStyle/>
          <a:p>
            <a:r>
              <a:rPr lang="fr-FR" u="sng" dirty="0">
                <a:latin typeface="Miriam" panose="020F0502020204030204" pitchFamily="34" charset="-79"/>
                <a:cs typeface="Miriam" panose="020F0502020204030204" pitchFamily="34" charset="-79"/>
              </a:rPr>
              <a:t>Analyse de l’égalité homme/femme : Promotion</a:t>
            </a:r>
          </a:p>
        </p:txBody>
      </p:sp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EAAAF347-76DF-9BA0-A920-52DF17DFBDC3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BA30D6E-254C-AEB6-66CD-37B9A0277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9" y="1700977"/>
            <a:ext cx="4688981" cy="326010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C6546BA-6BE6-6926-E22E-FAB3F4384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411" y="1178190"/>
            <a:ext cx="4473328" cy="430567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070AB9A-C071-946F-7CDA-D82CEC664084}"/>
              </a:ext>
            </a:extLst>
          </p:cNvPr>
          <p:cNvSpPr/>
          <p:nvPr/>
        </p:nvSpPr>
        <p:spPr>
          <a:xfrm>
            <a:off x="6346372" y="2547257"/>
            <a:ext cx="1654628" cy="27214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328AAB-0246-9064-986B-F89CBD51CC1D}"/>
              </a:ext>
            </a:extLst>
          </p:cNvPr>
          <p:cNvSpPr/>
          <p:nvPr/>
        </p:nvSpPr>
        <p:spPr>
          <a:xfrm>
            <a:off x="6422572" y="3565303"/>
            <a:ext cx="1654628" cy="27214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108246-ED31-B558-447F-0EEBB17F98BE}"/>
              </a:ext>
            </a:extLst>
          </p:cNvPr>
          <p:cNvSpPr/>
          <p:nvPr/>
        </p:nvSpPr>
        <p:spPr>
          <a:xfrm>
            <a:off x="8839200" y="5192485"/>
            <a:ext cx="767092" cy="29137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BF48534-2073-4FD3-C67C-43ED1B4D4CB1}"/>
              </a:ext>
            </a:extLst>
          </p:cNvPr>
          <p:cNvSpPr txBox="1"/>
          <p:nvPr/>
        </p:nvSpPr>
        <p:spPr>
          <a:xfrm>
            <a:off x="9833903" y="4960870"/>
            <a:ext cx="2130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Pas de relation significative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5C88092-4FAA-E21C-A585-98C64D505583}"/>
              </a:ext>
            </a:extLst>
          </p:cNvPr>
          <p:cNvSpPr txBox="1"/>
          <p:nvPr/>
        </p:nvSpPr>
        <p:spPr>
          <a:xfrm>
            <a:off x="9464910" y="2085592"/>
            <a:ext cx="2800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Plus de 80% des hommes/femmes n’ont pas eu de promotion</a:t>
            </a:r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4A771D3E-98DC-B53A-13AC-9641C7AB684E}"/>
              </a:ext>
            </a:extLst>
          </p:cNvPr>
          <p:cNvSpPr/>
          <p:nvPr/>
        </p:nvSpPr>
        <p:spPr>
          <a:xfrm>
            <a:off x="10387518" y="4341167"/>
            <a:ext cx="511628" cy="511628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312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/>
      <p:bldP spid="3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4C992-7B89-99AA-7529-DFE31E5B1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F37F40-E39D-9605-78C9-2E692632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0"/>
            <a:ext cx="9603275" cy="1049235"/>
          </a:xfrm>
        </p:spPr>
        <p:txBody>
          <a:bodyPr/>
          <a:lstStyle/>
          <a:p>
            <a:r>
              <a:rPr lang="fr-FR" u="sng" dirty="0">
                <a:latin typeface="Miriam" panose="020F0502020204030204" pitchFamily="34" charset="-79"/>
                <a:cs typeface="Miriam" panose="020F0502020204030204" pitchFamily="34" charset="-79"/>
              </a:rPr>
              <a:t>Analyse de l’égalité homme/femme : Effectif par service</a:t>
            </a:r>
          </a:p>
        </p:txBody>
      </p:sp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98C2F552-874A-7519-8317-FEF12AF3222C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EF879E4-FCA3-DB7E-EF86-B730070F0C52}"/>
              </a:ext>
            </a:extLst>
          </p:cNvPr>
          <p:cNvSpPr txBox="1"/>
          <p:nvPr/>
        </p:nvSpPr>
        <p:spPr>
          <a:xfrm>
            <a:off x="8673753" y="5532092"/>
            <a:ext cx="3195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Pas de relation significative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7AAE4C7-C295-4B0E-CAB9-C61628DE12BB}"/>
              </a:ext>
            </a:extLst>
          </p:cNvPr>
          <p:cNvSpPr txBox="1"/>
          <p:nvPr/>
        </p:nvSpPr>
        <p:spPr>
          <a:xfrm>
            <a:off x="8578847" y="1226576"/>
            <a:ext cx="3385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23% des femmes sont dans le service commercial contre 17% pour les hommes</a:t>
            </a:r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1F86A6F5-1E26-FE48-9CB6-14FAD9CF750C}"/>
              </a:ext>
            </a:extLst>
          </p:cNvPr>
          <p:cNvSpPr/>
          <p:nvPr/>
        </p:nvSpPr>
        <p:spPr>
          <a:xfrm>
            <a:off x="9865083" y="4924839"/>
            <a:ext cx="511628" cy="511628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6138516-C0FA-C48A-C703-2E5056984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34" y="977500"/>
            <a:ext cx="8153338" cy="497907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44135B2-4600-3AD7-4119-D08769246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162" y="956575"/>
            <a:ext cx="6187530" cy="494484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D33DA2F-B38D-E984-C11C-B92600F80665}"/>
              </a:ext>
            </a:extLst>
          </p:cNvPr>
          <p:cNvSpPr txBox="1"/>
          <p:nvPr/>
        </p:nvSpPr>
        <p:spPr>
          <a:xfrm>
            <a:off x="8578847" y="2071737"/>
            <a:ext cx="3385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19,2% des femmes sont dans le service compta/finances contre12,9% pour les hommes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AB4487-20D2-DA8D-0D24-F65EEC116546}"/>
              </a:ext>
            </a:extLst>
          </p:cNvPr>
          <p:cNvSpPr/>
          <p:nvPr/>
        </p:nvSpPr>
        <p:spPr>
          <a:xfrm>
            <a:off x="7107600" y="5707466"/>
            <a:ext cx="767092" cy="19395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00B60A-2613-2EBA-E78E-B5D15B369A6F}"/>
              </a:ext>
            </a:extLst>
          </p:cNvPr>
          <p:cNvSpPr/>
          <p:nvPr/>
        </p:nvSpPr>
        <p:spPr>
          <a:xfrm>
            <a:off x="3803160" y="1663507"/>
            <a:ext cx="1770325" cy="26770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9CB41E-A0CD-74BD-035A-9852FA0631A6}"/>
              </a:ext>
            </a:extLst>
          </p:cNvPr>
          <p:cNvSpPr/>
          <p:nvPr/>
        </p:nvSpPr>
        <p:spPr>
          <a:xfrm>
            <a:off x="3803160" y="2149906"/>
            <a:ext cx="1770325" cy="26770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" grpId="0"/>
      <p:bldP spid="6" grpId="0" animBg="1"/>
      <p:bldP spid="7" grpId="0"/>
      <p:bldP spid="8" grpId="0" animBg="1"/>
      <p:bldP spid="10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14F13-019F-614D-0063-51840643F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D849DE-94C1-017C-4FA4-6F79CBA3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0"/>
            <a:ext cx="9603275" cy="1049235"/>
          </a:xfrm>
        </p:spPr>
        <p:txBody>
          <a:bodyPr/>
          <a:lstStyle/>
          <a:p>
            <a:r>
              <a:rPr lang="fr-FR" u="sng" dirty="0">
                <a:latin typeface="Miriam" panose="020F0502020204030204" pitchFamily="34" charset="-79"/>
                <a:cs typeface="Miriam" panose="020F0502020204030204" pitchFamily="34" charset="-79"/>
              </a:rPr>
              <a:t>Analyse de l’égalité homme/femme : Satisfaction</a:t>
            </a:r>
          </a:p>
        </p:txBody>
      </p:sp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3C2DBD6B-4107-7C8C-FB9C-BF2326BE5E5E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BEF2250-50B5-EB9E-A7A5-44F2EAFCE792}"/>
              </a:ext>
            </a:extLst>
          </p:cNvPr>
          <p:cNvSpPr txBox="1"/>
          <p:nvPr/>
        </p:nvSpPr>
        <p:spPr>
          <a:xfrm>
            <a:off x="9796642" y="1406594"/>
            <a:ext cx="207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Shapiro femme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C654C9A-D8C1-40B8-F898-7CE857E81074}"/>
              </a:ext>
            </a:extLst>
          </p:cNvPr>
          <p:cNvSpPr txBox="1"/>
          <p:nvPr/>
        </p:nvSpPr>
        <p:spPr>
          <a:xfrm>
            <a:off x="7229894" y="1442675"/>
            <a:ext cx="2117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Shapiro homme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5A2D241-01A5-E906-5E81-67F49A96FFF1}"/>
              </a:ext>
            </a:extLst>
          </p:cNvPr>
          <p:cNvSpPr txBox="1"/>
          <p:nvPr/>
        </p:nvSpPr>
        <p:spPr>
          <a:xfrm>
            <a:off x="8613919" y="3111485"/>
            <a:ext cx="1824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Mann-Whitney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CAB0ADE-77D8-FD07-CA1C-90D7C5AA5B8E}"/>
              </a:ext>
            </a:extLst>
          </p:cNvPr>
          <p:cNvSpPr txBox="1"/>
          <p:nvPr/>
        </p:nvSpPr>
        <p:spPr>
          <a:xfrm>
            <a:off x="7229894" y="5337077"/>
            <a:ext cx="4310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Pas de différence significative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8EF6E5C-C022-0D32-5867-4B51C7FB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852" y="1931210"/>
            <a:ext cx="1353127" cy="91321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8321B46-B60A-518F-9FB5-72555BC27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173" y="1931210"/>
            <a:ext cx="1357135" cy="91321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BE08F74-9157-257E-18F1-96025B42D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979" y="3461772"/>
            <a:ext cx="1756331" cy="114770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9733B8A8-8E9D-6D11-02F9-E4D30F68F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59" y="1218465"/>
            <a:ext cx="6471856" cy="4272984"/>
          </a:xfrm>
          <a:prstGeom prst="rect">
            <a:avLst/>
          </a:prstGeom>
        </p:spPr>
      </p:pic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149C2095-D182-BF52-032E-19C72FECA7D3}"/>
              </a:ext>
            </a:extLst>
          </p:cNvPr>
          <p:cNvSpPr/>
          <p:nvPr/>
        </p:nvSpPr>
        <p:spPr>
          <a:xfrm>
            <a:off x="8723979" y="4776880"/>
            <a:ext cx="511628" cy="511628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11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7" grpId="0"/>
      <p:bldP spid="6" grpId="0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E1E1-7D6F-7DB0-1A17-800E6235A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1DF82-E7F2-3EEC-4310-34D5D767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0"/>
            <a:ext cx="9603275" cy="1049235"/>
          </a:xfrm>
        </p:spPr>
        <p:txBody>
          <a:bodyPr/>
          <a:lstStyle/>
          <a:p>
            <a:r>
              <a:rPr lang="fr-FR" u="sng" dirty="0">
                <a:latin typeface="Miriam" panose="020F0502020204030204" pitchFamily="34" charset="-79"/>
                <a:cs typeface="Miriam" panose="020F0502020204030204" pitchFamily="34" charset="-79"/>
              </a:rPr>
              <a:t>Analyse de l’égalité homme/femme : Type de contrat</a:t>
            </a:r>
          </a:p>
        </p:txBody>
      </p:sp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FF11C267-3102-917B-F61F-61FC64C3BD8E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1098F3A-C334-5F7F-F1B6-8D4C8684B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14" y="1049235"/>
            <a:ext cx="5756100" cy="491141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98BAAC8-1D5A-BE6A-CB2B-5B82C55DB464}"/>
              </a:ext>
            </a:extLst>
          </p:cNvPr>
          <p:cNvSpPr txBox="1"/>
          <p:nvPr/>
        </p:nvSpPr>
        <p:spPr>
          <a:xfrm>
            <a:off x="7369628" y="1476449"/>
            <a:ext cx="414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91,2% des femmes ont un CDI contre 96,1% des hommes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6F2AE5-26F9-487F-4E7F-333EA8359CB7}"/>
              </a:ext>
            </a:extLst>
          </p:cNvPr>
          <p:cNvSpPr/>
          <p:nvPr/>
        </p:nvSpPr>
        <p:spPr>
          <a:xfrm>
            <a:off x="2862943" y="3842657"/>
            <a:ext cx="2264228" cy="38086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B74A68-C0A6-FC69-A520-242393E269B5}"/>
              </a:ext>
            </a:extLst>
          </p:cNvPr>
          <p:cNvSpPr/>
          <p:nvPr/>
        </p:nvSpPr>
        <p:spPr>
          <a:xfrm>
            <a:off x="5649686" y="5592897"/>
            <a:ext cx="1197428" cy="27214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 : bas 14">
            <a:extLst>
              <a:ext uri="{FF2B5EF4-FFF2-40B4-BE49-F238E27FC236}">
                <a16:creationId xmlns:a16="http://schemas.microsoft.com/office/drawing/2014/main" id="{E9A61FF2-06DA-E160-D4D4-933971D9C972}"/>
              </a:ext>
            </a:extLst>
          </p:cNvPr>
          <p:cNvSpPr/>
          <p:nvPr/>
        </p:nvSpPr>
        <p:spPr>
          <a:xfrm>
            <a:off x="8363229" y="3711896"/>
            <a:ext cx="511628" cy="511628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7EBBF71-184A-7AAD-E77A-E7B90E08E023}"/>
              </a:ext>
            </a:extLst>
          </p:cNvPr>
          <p:cNvSpPr txBox="1"/>
          <p:nvPr/>
        </p:nvSpPr>
        <p:spPr>
          <a:xfrm>
            <a:off x="7276992" y="4365889"/>
            <a:ext cx="3195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Pas de relation significative</a:t>
            </a:r>
          </a:p>
        </p:txBody>
      </p:sp>
    </p:spTree>
    <p:extLst>
      <p:ext uri="{BB962C8B-B14F-4D97-AF65-F5344CB8AC3E}">
        <p14:creationId xmlns:p14="http://schemas.microsoft.com/office/powerpoint/2010/main" val="38162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4" grpId="0" animBg="1"/>
      <p:bldP spid="15" grpId="0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EE2BC-E634-F28D-1867-FAD90CE2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F5DB90-4214-FC28-E170-426E5B3E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0"/>
            <a:ext cx="9603275" cy="1049235"/>
          </a:xfrm>
        </p:spPr>
        <p:txBody>
          <a:bodyPr/>
          <a:lstStyle/>
          <a:p>
            <a:r>
              <a:rPr lang="fr-FR" u="sng" dirty="0">
                <a:latin typeface="Miriam" panose="020F0502020204030204" pitchFamily="34" charset="-79"/>
                <a:cs typeface="Miriam" panose="020F0502020204030204" pitchFamily="34" charset="-79"/>
              </a:rPr>
              <a:t>Analyse de l’égalité homme/femme : Critique</a:t>
            </a:r>
          </a:p>
        </p:txBody>
      </p:sp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0052C618-9EF2-6BF7-7827-4F8FE04A2592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06F0809-FC8A-923D-C064-F17F5C870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1" y="1433808"/>
            <a:ext cx="987394" cy="422318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A1F256C-8054-EA16-B970-66A0D0653821}"/>
              </a:ext>
            </a:extLst>
          </p:cNvPr>
          <p:cNvSpPr txBox="1"/>
          <p:nvPr/>
        </p:nvSpPr>
        <p:spPr>
          <a:xfrm>
            <a:off x="110467" y="2534551"/>
            <a:ext cx="7369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- </a:t>
            </a:r>
            <a:r>
              <a:rPr lang="fr-FR" sz="2400" dirty="0">
                <a:latin typeface="Miriam" panose="020B0502050101010101" pitchFamily="34" charset="-79"/>
                <a:cs typeface="Miriam" panose="020B0502050101010101" pitchFamily="34" charset="-79"/>
              </a:rPr>
              <a:t>Sexe des 10 salaires les plus élevés (9 hommes, 1 femme)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EE943AE-FCB4-5AA8-B7F5-E25D41B1B659}"/>
              </a:ext>
            </a:extLst>
          </p:cNvPr>
          <p:cNvSpPr txBox="1"/>
          <p:nvPr/>
        </p:nvSpPr>
        <p:spPr>
          <a:xfrm>
            <a:off x="110467" y="1678065"/>
            <a:ext cx="7187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Miriam" panose="020B0502050101010101" pitchFamily="34" charset="-79"/>
                <a:cs typeface="Miriam" panose="020B0502050101010101" pitchFamily="34" charset="-79"/>
              </a:rPr>
              <a:t>-Statistiques globales peuvent être trompeuses d’après le paradoxe de </a:t>
            </a:r>
            <a:r>
              <a:rPr lang="fr-FR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Simspon</a:t>
            </a:r>
            <a:endParaRPr lang="fr-FR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5C3608F-741F-E41F-D844-2248FFEF27D2}"/>
              </a:ext>
            </a:extLst>
          </p:cNvPr>
          <p:cNvSpPr txBox="1"/>
          <p:nvPr/>
        </p:nvSpPr>
        <p:spPr>
          <a:xfrm>
            <a:off x="110467" y="3429000"/>
            <a:ext cx="7022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- </a:t>
            </a:r>
            <a:r>
              <a:rPr lang="fr-FR" sz="2400" dirty="0">
                <a:latin typeface="Miriam" panose="020B0502050101010101" pitchFamily="34" charset="-79"/>
                <a:cs typeface="Miriam" panose="020B0502050101010101" pitchFamily="34" charset="-79"/>
              </a:rPr>
              <a:t>Besoin d’avoir des données complètes et cohérentes pour mener une analyse fiable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1DB3DE4-A676-C012-0EF1-F00BBAF1E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11" y="4520367"/>
            <a:ext cx="4806092" cy="108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2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1054-D61E-047F-B99E-085AE8FF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3B8F24-A4BF-3BCC-8C4F-7A5F14610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0"/>
            <a:ext cx="9603275" cy="1049235"/>
          </a:xfrm>
        </p:spPr>
        <p:txBody>
          <a:bodyPr/>
          <a:lstStyle/>
          <a:p>
            <a:r>
              <a:rPr lang="fr-FR" u="sng" dirty="0">
                <a:latin typeface="Miriam" panose="020F0502020204030204" pitchFamily="34" charset="-79"/>
                <a:cs typeface="Miriam" panose="020F0502020204030204" pitchFamily="34" charset="-79"/>
              </a:rPr>
              <a:t>Analyse de l’égalité homme/femme : Conclusion</a:t>
            </a:r>
          </a:p>
        </p:txBody>
      </p:sp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D157FB48-17FA-C601-66DB-F08D82255E5F}"/>
              </a:ext>
            </a:extLst>
          </p:cNvPr>
          <p:cNvSpPr/>
          <p:nvPr/>
        </p:nvSpPr>
        <p:spPr>
          <a:xfrm>
            <a:off x="0" y="881975"/>
            <a:ext cx="12192000" cy="5159595"/>
          </a:xfrm>
          <a:prstGeom prst="flowChartProcess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F3060D9-1BCE-BC05-DC03-D1B62D69CB50}"/>
              </a:ext>
            </a:extLst>
          </p:cNvPr>
          <p:cNvSpPr txBox="1"/>
          <p:nvPr/>
        </p:nvSpPr>
        <p:spPr>
          <a:xfrm>
            <a:off x="515407" y="1071468"/>
            <a:ext cx="11208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- D’après notre analyse globale, aucune inégalité liée au genre ne semble présente dans l’entreprise.</a:t>
            </a:r>
            <a:br>
              <a:rPr lang="fr-FR" sz="2400" dirty="0"/>
            </a:br>
            <a:r>
              <a:rPr lang="fr-FR" sz="2400" dirty="0"/>
              <a:t>Cependant, une analyse plus ciblée pourrait révéler l’inverse.</a:t>
            </a:r>
            <a:endParaRPr lang="fr-FR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8D6F80E-4CA0-9F3B-135D-574BAAB86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31" y="2241481"/>
            <a:ext cx="8077634" cy="3734544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59CA288C-2902-8929-ABDA-F4B2360EBCA8}"/>
              </a:ext>
            </a:extLst>
          </p:cNvPr>
          <p:cNvSpPr/>
          <p:nvPr/>
        </p:nvSpPr>
        <p:spPr>
          <a:xfrm>
            <a:off x="6248400" y="5584372"/>
            <a:ext cx="468086" cy="3589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83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erie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Galerie</Template>
  <TotalTime>655</TotalTime>
  <Words>265</Words>
  <Application>Microsoft Office PowerPoint</Application>
  <PresentationFormat>Grand écran</PresentationFormat>
  <Paragraphs>36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Miriam</vt:lpstr>
      <vt:lpstr>Galerie</vt:lpstr>
      <vt:lpstr>Mission:  - automatiser la création d’un rapport sur l’égalité professionnelle femmes hommes </vt:lpstr>
      <vt:lpstr>Présentation des données</vt:lpstr>
      <vt:lpstr>Nettoyage des données</vt:lpstr>
      <vt:lpstr>Anonymisation des données</vt:lpstr>
      <vt:lpstr>Analyse de l’égalité homme/femme : Salaire</vt:lpstr>
      <vt:lpstr>Analyse de l’égalité homme/femme : Promotion</vt:lpstr>
      <vt:lpstr>Analyse de l’égalité homme/femme : Effectif par service</vt:lpstr>
      <vt:lpstr>Analyse de l’égalité homme/femme : Satisfaction</vt:lpstr>
      <vt:lpstr>Analyse de l’égalité homme/femme : Type de contrat</vt:lpstr>
      <vt:lpstr>Analyse de l’égalité homme/femme : Critique</vt:lpstr>
      <vt:lpstr>Analyse de l’égalité homme/femme :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Zyad Smaki</dc:creator>
  <cp:lastModifiedBy>Zyad Smaki</cp:lastModifiedBy>
  <cp:revision>11</cp:revision>
  <dcterms:created xsi:type="dcterms:W3CDTF">2025-06-05T11:04:17Z</dcterms:created>
  <dcterms:modified xsi:type="dcterms:W3CDTF">2025-06-12T16:28:00Z</dcterms:modified>
</cp:coreProperties>
</file>